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05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9144000" cy="9144000"/>
          </a:xfrm>
          <a:prstGeom prst="ellipse">
            <a:avLst/>
          </a:prstGeom>
          <a:solidFill>
            <a:srgbClr val="00D4FB">
              <a:alpha val="12000"/>
            </a:srgbClr>
          </a:solidFill>
          <a:ln w="12700">
            <a:solidFill>
              <a:srgbClr val="00D4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05295" y="457200"/>
            <a:ext cx="10972800" cy="10972800"/>
          </a:xfrm>
          <a:prstGeom prst="ellipse">
            <a:avLst/>
          </a:prstGeom>
          <a:solidFill>
            <a:srgbClr val="8864FF">
              <a:alpha val="12000"/>
            </a:srgbClr>
          </a:solidFill>
          <a:ln w="12700">
            <a:solidFill>
              <a:srgbClr val="886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37744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spc="-200" kern="0" dirty="0">
                <a:solidFill>
                  <a:srgbClr val="E6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FormaOS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731520" y="3749040"/>
            <a:ext cx="1280160" cy="64008"/>
          </a:xfrm>
          <a:prstGeom prst="rect">
            <a:avLst/>
          </a:prstGeom>
          <a:solidFill>
            <a:srgbClr val="00D4FB"/>
          </a:solidFill>
          <a:ln w="12700">
            <a:solidFill>
              <a:srgbClr val="00D4F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931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spc="-50" kern="0" dirty="0">
                <a:solidFill>
                  <a:srgbClr val="E6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Operating System for regulated operators.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45262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spc="-50" kern="0" dirty="0">
                <a:solidFill>
                  <a:srgbClr val="00D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AU-hosted by default.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" y="6126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56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deck · 2026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0D4FB"/>
          </a:solidFill>
          <a:ln w="12700">
            <a:solidFill>
              <a:srgbClr val="00D4F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305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0" y="-4572000"/>
            <a:ext cx="7315200" cy="7315200"/>
          </a:xfrm>
          <a:prstGeom prst="ellipse">
            <a:avLst/>
          </a:prstGeom>
          <a:solidFill>
            <a:srgbClr val="00D4FB">
              <a:alpha val="8000"/>
            </a:srgbClr>
          </a:solidFill>
          <a:ln w="12700">
            <a:solidFill>
              <a:srgbClr val="00D4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34095" y="3200400"/>
            <a:ext cx="7315200" cy="7315200"/>
          </a:xfrm>
          <a:prstGeom prst="ellipse">
            <a:avLst/>
          </a:prstGeom>
          <a:solidFill>
            <a:srgbClr val="8864FF">
              <a:alpha val="7000"/>
            </a:srgbClr>
          </a:solidFill>
          <a:ln w="12700">
            <a:solidFill>
              <a:srgbClr val="886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100" kern="0" dirty="0">
                <a:solidFill>
                  <a:srgbClr val="00D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FormaOS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8046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56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OS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D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100" kern="0" dirty="0">
                <a:solidFill>
                  <a:srgbClr val="E6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lives in spreadsheets. Audits cost weeks.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3566160" cy="2286000"/>
          </a:xfrm>
          <a:prstGeom prst="rect">
            <a:avLst/>
          </a:prstGeom>
          <a:solidFill>
            <a:srgbClr val="0B1124"/>
          </a:solidFill>
          <a:ln w="12700">
            <a:solidFill>
              <a:srgbClr val="1E294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017520"/>
            <a:ext cx="548640" cy="4572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246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 &amp; shared drives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38404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8E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operators run obligations in Excel, SharePoint, and email threads — unaudited, undefended.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51960" y="3017520"/>
            <a:ext cx="3566160" cy="2286000"/>
          </a:xfrm>
          <a:prstGeom prst="rect">
            <a:avLst/>
          </a:prstGeom>
          <a:solidFill>
            <a:srgbClr val="0B1124"/>
          </a:solidFill>
          <a:ln w="12700">
            <a:solidFill>
              <a:srgbClr val="1E294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51960" y="3017520"/>
            <a:ext cx="548640" cy="4572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3246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Audits take weeks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26280" y="38404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8E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is reconstructed on demand. Owners are chased. Readiness is a quarterly fire drill.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955280" y="3017520"/>
            <a:ext cx="3566160" cy="2286000"/>
          </a:xfrm>
          <a:prstGeom prst="rect">
            <a:avLst/>
          </a:prstGeom>
          <a:solidFill>
            <a:srgbClr val="0B1124"/>
          </a:solidFill>
          <a:ln w="12700">
            <a:solidFill>
              <a:srgbClr val="1E294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55280" y="3017520"/>
            <a:ext cx="548640" cy="4572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0" y="3246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 is diffused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29600" y="38404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8E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named owner per control. No SLAs. Exposure lands on a few overworked humans.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E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audit-time panic. Silent regulator risk. Deal-blocking procurement friction.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820095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6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0D4FB"/>
          </a:solidFill>
          <a:ln w="12700">
            <a:solidFill>
              <a:srgbClr val="00D4FB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305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0" y="-4572000"/>
            <a:ext cx="7315200" cy="7315200"/>
          </a:xfrm>
          <a:prstGeom prst="ellipse">
            <a:avLst/>
          </a:prstGeom>
          <a:solidFill>
            <a:srgbClr val="00D4FB">
              <a:alpha val="8000"/>
            </a:srgbClr>
          </a:solidFill>
          <a:ln w="12700">
            <a:solidFill>
              <a:srgbClr val="00D4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34095" y="3200400"/>
            <a:ext cx="7315200" cy="7315200"/>
          </a:xfrm>
          <a:prstGeom prst="ellipse">
            <a:avLst/>
          </a:prstGeom>
          <a:solidFill>
            <a:srgbClr val="8864FF">
              <a:alpha val="7000"/>
            </a:srgbClr>
          </a:solidFill>
          <a:ln w="12700">
            <a:solidFill>
              <a:srgbClr val="886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100" kern="0" dirty="0">
                <a:solidFill>
                  <a:srgbClr val="00D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FormaOS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8046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56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OS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D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100" kern="0" dirty="0">
                <a:solidFill>
                  <a:srgbClr val="E6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operators. AU-first. A deep, underserved TAM.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4572000" cy="3200400"/>
          </a:xfrm>
          <a:prstGeom prst="rect">
            <a:avLst/>
          </a:prstGeom>
          <a:solidFill>
            <a:srgbClr val="0B1124"/>
          </a:solidFill>
          <a:ln w="12700">
            <a:solidFill>
              <a:srgbClr val="1E294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926080"/>
            <a:ext cx="822960" cy="45720"/>
          </a:xfrm>
          <a:prstGeom prst="rect">
            <a:avLst/>
          </a:prstGeom>
          <a:solidFill>
            <a:srgbClr val="00D4FB"/>
          </a:solidFill>
          <a:ln w="12700">
            <a:solidFill>
              <a:srgbClr val="00D4F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108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56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AU-addressable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52044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-200" kern="0" dirty="0">
                <a:solidFill>
                  <a:srgbClr val="00D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$40B+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777240" y="480060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E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annual spend across NDIS, aged care, healthcare, and childcare — all under intensifying compliance obligations.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0" y="2926080"/>
            <a:ext cx="3017520" cy="1508760"/>
          </a:xfrm>
          <a:prstGeom prst="rect">
            <a:avLst/>
          </a:prstGeom>
          <a:solidFill>
            <a:srgbClr val="0B1124"/>
          </a:solidFill>
          <a:ln w="12700">
            <a:solidFill>
              <a:srgbClr val="1E294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2926080"/>
            <a:ext cx="457200" cy="45720"/>
          </a:xfrm>
          <a:prstGeom prst="rect">
            <a:avLst/>
          </a:prstGeom>
          <a:solidFill>
            <a:srgbClr val="00D4FB"/>
          </a:solidFill>
          <a:ln w="12700">
            <a:solidFill>
              <a:srgbClr val="00D4F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15000" y="3108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NDIS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715000" y="3520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D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$40B AU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715000" y="38404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E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Standards, Worker Screening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41080" y="2926080"/>
            <a:ext cx="3017520" cy="1508760"/>
          </a:xfrm>
          <a:prstGeom prst="rect">
            <a:avLst/>
          </a:prstGeom>
          <a:solidFill>
            <a:srgbClr val="0B1124"/>
          </a:solidFill>
          <a:ln w="12700">
            <a:solidFill>
              <a:srgbClr val="1E294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41080" y="2926080"/>
            <a:ext cx="457200" cy="45720"/>
          </a:xfrm>
          <a:prstGeom prst="rect">
            <a:avLst/>
          </a:prstGeom>
          <a:solidFill>
            <a:srgbClr val="3399FF"/>
          </a:solidFill>
          <a:ln w="12700">
            <a:solidFill>
              <a:srgbClr val="3399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69680" y="3108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Aged Care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869680" y="3520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39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869680" y="38404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E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Aged Care Act reforms, Star Ratings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0" y="4572000"/>
            <a:ext cx="3017520" cy="1508760"/>
          </a:xfrm>
          <a:prstGeom prst="rect">
            <a:avLst/>
          </a:prstGeom>
          <a:solidFill>
            <a:srgbClr val="0B1124"/>
          </a:solidFill>
          <a:ln w="12700">
            <a:solidFill>
              <a:srgbClr val="1E294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0" y="4572000"/>
            <a:ext cx="457200" cy="45720"/>
          </a:xfrm>
          <a:prstGeom prst="rect">
            <a:avLst/>
          </a:prstGeom>
          <a:solidFill>
            <a:srgbClr val="8864FF"/>
          </a:solidFill>
          <a:ln w="12700">
            <a:solidFill>
              <a:srgbClr val="8864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15000" y="4754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715000" y="5166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86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Multi-$B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715000" y="54864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E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NSQHS, HIPAA, clinical governance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641080" y="4572000"/>
            <a:ext cx="3017520" cy="1508760"/>
          </a:xfrm>
          <a:prstGeom prst="rect">
            <a:avLst/>
          </a:prstGeom>
          <a:solidFill>
            <a:srgbClr val="0B1124"/>
          </a:solidFill>
          <a:ln w="12700">
            <a:solidFill>
              <a:srgbClr val="1E294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41080" y="4572000"/>
            <a:ext cx="45720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69680" y="4754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Childcare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869680" y="5166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869680" y="54864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E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NQF, educator credentials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820095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6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0D4FB"/>
          </a:solidFill>
          <a:ln w="12700">
            <a:solidFill>
              <a:srgbClr val="00D4FB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305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0" y="-4572000"/>
            <a:ext cx="7315200" cy="7315200"/>
          </a:xfrm>
          <a:prstGeom prst="ellipse">
            <a:avLst/>
          </a:prstGeom>
          <a:solidFill>
            <a:srgbClr val="00D4FB">
              <a:alpha val="8000"/>
            </a:srgbClr>
          </a:solidFill>
          <a:ln w="12700">
            <a:solidFill>
              <a:srgbClr val="00D4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34095" y="3200400"/>
            <a:ext cx="7315200" cy="7315200"/>
          </a:xfrm>
          <a:prstGeom prst="ellipse">
            <a:avLst/>
          </a:prstGeom>
          <a:solidFill>
            <a:srgbClr val="8864FF">
              <a:alpha val="7000"/>
            </a:srgbClr>
          </a:solidFill>
          <a:ln w="12700">
            <a:solidFill>
              <a:srgbClr val="886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100" kern="0" dirty="0">
                <a:solidFill>
                  <a:srgbClr val="00D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FormaOS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8046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56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OS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D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100" kern="0" dirty="0">
                <a:solidFill>
                  <a:srgbClr val="E6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OS. Five pillars. Governed end-to-end.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2212848" cy="3200400"/>
          </a:xfrm>
          <a:prstGeom prst="rect">
            <a:avLst/>
          </a:prstGeom>
          <a:solidFill>
            <a:srgbClr val="0B1124"/>
          </a:solidFill>
          <a:ln w="12700">
            <a:solidFill>
              <a:srgbClr val="1E294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926080"/>
            <a:ext cx="2212848" cy="45720"/>
          </a:xfrm>
          <a:prstGeom prst="rect">
            <a:avLst/>
          </a:prstGeom>
          <a:solidFill>
            <a:srgbClr val="00D4FB"/>
          </a:solidFill>
          <a:ln w="12700">
            <a:solidFill>
              <a:srgbClr val="00D4F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20040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D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3611880"/>
            <a:ext cx="175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E6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Engine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7240" y="4663440"/>
            <a:ext cx="175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E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framework packs including SOC 2, ISO 27001, NDIS, Essential Eight.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871216" y="2926080"/>
            <a:ext cx="2212848" cy="3200400"/>
          </a:xfrm>
          <a:prstGeom prst="rect">
            <a:avLst/>
          </a:prstGeom>
          <a:solidFill>
            <a:srgbClr val="0B1124"/>
          </a:solidFill>
          <a:ln w="12700">
            <a:solidFill>
              <a:srgbClr val="1E294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71216" y="2926080"/>
            <a:ext cx="2212848" cy="45720"/>
          </a:xfrm>
          <a:prstGeom prst="rect">
            <a:avLst/>
          </a:prstGeom>
          <a:solidFill>
            <a:srgbClr val="3399FF"/>
          </a:solidFill>
          <a:ln w="12700">
            <a:solidFill>
              <a:srgbClr val="3399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99816" y="320040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39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099816" y="3611880"/>
            <a:ext cx="175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E6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Vault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099816" y="4663440"/>
            <a:ext cx="175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E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Chain-of-custody, verification workflows, immutable audit trail.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193792" y="2926080"/>
            <a:ext cx="2212848" cy="3200400"/>
          </a:xfrm>
          <a:prstGeom prst="rect">
            <a:avLst/>
          </a:prstGeom>
          <a:solidFill>
            <a:srgbClr val="0B1124"/>
          </a:solidFill>
          <a:ln w="12700">
            <a:solidFill>
              <a:srgbClr val="1E294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93792" y="2926080"/>
            <a:ext cx="2212848" cy="45720"/>
          </a:xfrm>
          <a:prstGeom prst="rect">
            <a:avLst/>
          </a:prstGeom>
          <a:solidFill>
            <a:srgbClr val="8864FF"/>
          </a:solidFill>
          <a:ln w="12700">
            <a:solidFill>
              <a:srgbClr val="886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22392" y="320040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86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22392" y="3611880"/>
            <a:ext cx="175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E6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&amp; Governance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22392" y="4663440"/>
            <a:ext cx="175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E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owners, SLAs, approvals, automation triggers.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516368" y="2926080"/>
            <a:ext cx="2212848" cy="3200400"/>
          </a:xfrm>
          <a:prstGeom prst="rect">
            <a:avLst/>
          </a:prstGeom>
          <a:solidFill>
            <a:srgbClr val="0B1124"/>
          </a:solidFill>
          <a:ln w="12700">
            <a:solidFill>
              <a:srgbClr val="1E294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16368" y="2926080"/>
            <a:ext cx="2212848" cy="4572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44968" y="320040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44968" y="3611880"/>
            <a:ext cx="175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E6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Operations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744968" y="4663440"/>
            <a:ext cx="175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E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Participants, visits, care plans, credentials — the wedge.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838944" y="2926080"/>
            <a:ext cx="2212848" cy="3200400"/>
          </a:xfrm>
          <a:prstGeom prst="rect">
            <a:avLst/>
          </a:prstGeom>
          <a:solidFill>
            <a:srgbClr val="0B1124"/>
          </a:solidFill>
          <a:ln w="12700">
            <a:solidFill>
              <a:srgbClr val="1E294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838944" y="2926080"/>
            <a:ext cx="2212848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67544" y="320040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067544" y="3611880"/>
            <a:ext cx="175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E6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Surface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067544" y="4663440"/>
            <a:ext cx="175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E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Assurance packets, SSO/SAML, AU residency, API/webhooks.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820095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6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0D4FB"/>
          </a:solidFill>
          <a:ln w="12700">
            <a:solidFill>
              <a:srgbClr val="00D4FB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305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0" y="-4572000"/>
            <a:ext cx="7315200" cy="7315200"/>
          </a:xfrm>
          <a:prstGeom prst="ellipse">
            <a:avLst/>
          </a:prstGeom>
          <a:solidFill>
            <a:srgbClr val="00D4FB">
              <a:alpha val="8000"/>
            </a:srgbClr>
          </a:solidFill>
          <a:ln w="12700">
            <a:solidFill>
              <a:srgbClr val="00D4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34095" y="3200400"/>
            <a:ext cx="7315200" cy="7315200"/>
          </a:xfrm>
          <a:prstGeom prst="ellipse">
            <a:avLst/>
          </a:prstGeom>
          <a:solidFill>
            <a:srgbClr val="8864FF">
              <a:alpha val="7000"/>
            </a:srgbClr>
          </a:solidFill>
          <a:ln w="12700">
            <a:solidFill>
              <a:srgbClr val="886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100" kern="0" dirty="0">
                <a:solidFill>
                  <a:srgbClr val="00D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FormaOS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8046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56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OS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D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WEDGE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100" kern="0" dirty="0">
                <a:solidFill>
                  <a:srgbClr val="E6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Operations is what Drata &amp; Vanta don’t have.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5669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spc="-50" kern="0" dirty="0">
                <a:solidFill>
                  <a:srgbClr val="E6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show up with compliance automation — and then we run your operations.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48640" y="493776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E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Visits, participants, care plans, credentials — in compliance context. No other security-focused tool has this. We win regulated verticals on product depth.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583680" y="2834640"/>
            <a:ext cx="5120640" cy="3291840"/>
          </a:xfrm>
          <a:prstGeom prst="rect">
            <a:avLst/>
          </a:prstGeom>
          <a:solidFill>
            <a:srgbClr val="0B1124"/>
          </a:solidFill>
          <a:ln w="12700">
            <a:solidFill>
              <a:srgbClr val="1E294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2834640"/>
            <a:ext cx="5120640" cy="45720"/>
          </a:xfrm>
          <a:prstGeom prst="rect">
            <a:avLst/>
          </a:prstGeom>
          <a:solidFill>
            <a:srgbClr val="8864FF"/>
          </a:solidFill>
          <a:ln w="12700">
            <a:solidFill>
              <a:srgbClr val="886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0" y="3017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86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FORMAOS vs GENERIC GRC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0" y="3383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6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646920" y="33832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0D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FormaOS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607040" y="33832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56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Drata/Vanta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0" y="3749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/ ISO 27001 automation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46920" y="37490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607040" y="37490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0" y="4069080"/>
            <a:ext cx="4572000" cy="0"/>
          </a:xfrm>
          <a:prstGeom prst="line">
            <a:avLst/>
          </a:prstGeom>
          <a:noFill/>
          <a:ln w="6350">
            <a:solidFill>
              <a:srgbClr val="1E29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0" y="4114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NDIS Practice Standards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646920" y="41148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607040" y="41148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58000" y="4434840"/>
            <a:ext cx="4572000" cy="0"/>
          </a:xfrm>
          <a:prstGeom prst="line">
            <a:avLst/>
          </a:prstGeom>
          <a:noFill/>
          <a:ln w="6350">
            <a:solidFill>
              <a:srgbClr val="1E29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0" y="4480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operations (visits, plans)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646920" y="44805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607040" y="44805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858000" y="4800600"/>
            <a:ext cx="4572000" cy="0"/>
          </a:xfrm>
          <a:prstGeom prst="line">
            <a:avLst/>
          </a:prstGeom>
          <a:noFill/>
          <a:ln w="6350">
            <a:solidFill>
              <a:srgbClr val="1E294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0" y="4846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Multi-site rollup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646920" y="48463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607040" y="48463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858000" y="5166360"/>
            <a:ext cx="4572000" cy="0"/>
          </a:xfrm>
          <a:prstGeom prst="line">
            <a:avLst/>
          </a:prstGeom>
          <a:noFill/>
          <a:ln w="6350">
            <a:solidFill>
              <a:srgbClr val="1E294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0" y="5212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residency by default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646920" y="52120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607040" y="52120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858000" y="5532120"/>
            <a:ext cx="4572000" cy="0"/>
          </a:xfrm>
          <a:prstGeom prst="line">
            <a:avLst/>
          </a:prstGeom>
          <a:noFill/>
          <a:ln w="6350">
            <a:solidFill>
              <a:srgbClr val="1E294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0" y="5577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chain-of-custody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646920" y="55778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607040" y="55778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820095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6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0D4FB"/>
          </a:solidFill>
          <a:ln w="12700">
            <a:solidFill>
              <a:srgbClr val="00D4FB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305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0" y="-4572000"/>
            <a:ext cx="7315200" cy="7315200"/>
          </a:xfrm>
          <a:prstGeom prst="ellipse">
            <a:avLst/>
          </a:prstGeom>
          <a:solidFill>
            <a:srgbClr val="00D4FB">
              <a:alpha val="8000"/>
            </a:srgbClr>
          </a:solidFill>
          <a:ln w="12700">
            <a:solidFill>
              <a:srgbClr val="00D4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34095" y="3200400"/>
            <a:ext cx="7315200" cy="7315200"/>
          </a:xfrm>
          <a:prstGeom prst="ellipse">
            <a:avLst/>
          </a:prstGeom>
          <a:solidFill>
            <a:srgbClr val="8864FF">
              <a:alpha val="7000"/>
            </a:srgbClr>
          </a:solidFill>
          <a:ln w="12700">
            <a:solidFill>
              <a:srgbClr val="886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100" kern="0" dirty="0">
                <a:solidFill>
                  <a:srgbClr val="00D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FormaOS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8046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56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OS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D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100" kern="0" dirty="0">
                <a:solidFill>
                  <a:srgbClr val="E6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Australian regulation is tightening simultaneously.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5486400" cy="1554480"/>
          </a:xfrm>
          <a:prstGeom prst="rect">
            <a:avLst/>
          </a:prstGeom>
          <a:solidFill>
            <a:srgbClr val="0B1124"/>
          </a:solidFill>
          <a:ln w="12700">
            <a:solidFill>
              <a:srgbClr val="1E294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926080"/>
            <a:ext cx="640080" cy="45720"/>
          </a:xfrm>
          <a:prstGeom prst="rect">
            <a:avLst/>
          </a:prstGeom>
          <a:solidFill>
            <a:srgbClr val="00D4FB"/>
          </a:solidFill>
          <a:ln w="12700">
            <a:solidFill>
              <a:srgbClr val="00D4F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1089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OF CRITICAL INFRASTRUCTURE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34290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 Act expansion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38862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E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sectors, mandatory risk management programs, cyber-incident reporting.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2926080"/>
            <a:ext cx="5486400" cy="1554480"/>
          </a:xfrm>
          <a:prstGeom prst="rect">
            <a:avLst/>
          </a:prstGeom>
          <a:solidFill>
            <a:srgbClr val="0B1124"/>
          </a:solidFill>
          <a:ln w="12700">
            <a:solidFill>
              <a:srgbClr val="1E294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2926080"/>
            <a:ext cx="640080" cy="45720"/>
          </a:xfrm>
          <a:prstGeom prst="rect">
            <a:avLst/>
          </a:prstGeom>
          <a:solidFill>
            <a:srgbClr val="3399FF"/>
          </a:solidFill>
          <a:ln w="12700">
            <a:solidFill>
              <a:srgbClr val="3399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31089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39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92240" y="34290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Act reforms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92240" y="38862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E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tiered penalties, small-business removal, statutory tort for privacy breaches.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663440"/>
            <a:ext cx="5486400" cy="1554480"/>
          </a:xfrm>
          <a:prstGeom prst="rect">
            <a:avLst/>
          </a:prstGeom>
          <a:solidFill>
            <a:srgbClr val="0B1124"/>
          </a:solidFill>
          <a:ln w="12700">
            <a:solidFill>
              <a:srgbClr val="1E294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663440"/>
            <a:ext cx="640080" cy="45720"/>
          </a:xfrm>
          <a:prstGeom prst="rect">
            <a:avLst/>
          </a:prstGeom>
          <a:solidFill>
            <a:srgbClr val="8864FF"/>
          </a:solidFill>
          <a:ln w="12700">
            <a:solidFill>
              <a:srgbClr val="886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846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86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AGED CARE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960" y="51663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Aged Care Act overhaul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2960" y="56235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E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Act from July 2025. Provider obligations, Star Ratings, stronger regulator.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4663440"/>
            <a:ext cx="5486400" cy="1554480"/>
          </a:xfrm>
          <a:prstGeom prst="rect">
            <a:avLst/>
          </a:prstGeom>
          <a:solidFill>
            <a:srgbClr val="0B1124"/>
          </a:solidFill>
          <a:ln w="12700">
            <a:solidFill>
              <a:srgbClr val="1E294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0" y="4663440"/>
            <a:ext cx="640080" cy="4572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4846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NDIS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92240" y="51663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NDIS registration reform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492240" y="56235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E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mandatory registration. More providers entering compliance scope.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820095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6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0D4FB"/>
          </a:solidFill>
          <a:ln w="12700">
            <a:solidFill>
              <a:srgbClr val="00D4FB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305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0" y="-4572000"/>
            <a:ext cx="7315200" cy="7315200"/>
          </a:xfrm>
          <a:prstGeom prst="ellipse">
            <a:avLst/>
          </a:prstGeom>
          <a:solidFill>
            <a:srgbClr val="00D4FB">
              <a:alpha val="8000"/>
            </a:srgbClr>
          </a:solidFill>
          <a:ln w="12700">
            <a:solidFill>
              <a:srgbClr val="00D4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34095" y="3200400"/>
            <a:ext cx="7315200" cy="7315200"/>
          </a:xfrm>
          <a:prstGeom prst="ellipse">
            <a:avLst/>
          </a:prstGeom>
          <a:solidFill>
            <a:srgbClr val="8864FF">
              <a:alpha val="7000"/>
            </a:srgbClr>
          </a:solidFill>
          <a:ln w="12700">
            <a:solidFill>
              <a:srgbClr val="886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100" kern="0" dirty="0">
                <a:solidFill>
                  <a:srgbClr val="00D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FormaOS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8046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56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OS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D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100" kern="0" dirty="0">
                <a:solidFill>
                  <a:srgbClr val="E6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signal, strong retention, expanding ACV.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788920" cy="1920240"/>
          </a:xfrm>
          <a:prstGeom prst="rect">
            <a:avLst/>
          </a:prstGeom>
          <a:solidFill>
            <a:srgbClr val="0B1124"/>
          </a:solidFill>
          <a:ln w="12700">
            <a:solidFill>
              <a:srgbClr val="1E294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834640"/>
            <a:ext cx="2788920" cy="45720"/>
          </a:xfrm>
          <a:prstGeom prst="rect">
            <a:avLst/>
          </a:prstGeom>
          <a:solidFill>
            <a:srgbClr val="00D4FB"/>
          </a:solidFill>
          <a:ln w="12700">
            <a:solidFill>
              <a:srgbClr val="00D4F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0632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6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34290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-100" kern="0" dirty="0">
                <a:solidFill>
                  <a:srgbClr val="00D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XX ]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777240" y="42976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organisations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47288" y="2834640"/>
            <a:ext cx="2788920" cy="1920240"/>
          </a:xfrm>
          <a:prstGeom prst="rect">
            <a:avLst/>
          </a:prstGeom>
          <a:solidFill>
            <a:srgbClr val="0B1124"/>
          </a:solidFill>
          <a:ln w="12700">
            <a:solidFill>
              <a:srgbClr val="1E294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47288" y="2834640"/>
            <a:ext cx="2788920" cy="45720"/>
          </a:xfrm>
          <a:prstGeom prst="rect">
            <a:avLst/>
          </a:prstGeom>
          <a:solidFill>
            <a:srgbClr val="3399FF"/>
          </a:solidFill>
          <a:ln w="12700">
            <a:solidFill>
              <a:srgbClr val="3399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75888" y="30632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6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(AUD)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75888" y="34290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-100" kern="0" dirty="0">
                <a:solidFill>
                  <a:srgbClr val="339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$XX,XXX ]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3675888" y="42976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recurring, not usage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45936" y="2834640"/>
            <a:ext cx="2788920" cy="1920240"/>
          </a:xfrm>
          <a:prstGeom prst="rect">
            <a:avLst/>
          </a:prstGeom>
          <a:solidFill>
            <a:srgbClr val="0B1124"/>
          </a:solidFill>
          <a:ln w="12700">
            <a:solidFill>
              <a:srgbClr val="1E294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45936" y="2834640"/>
            <a:ext cx="2788920" cy="45720"/>
          </a:xfrm>
          <a:prstGeom prst="rect">
            <a:avLst/>
          </a:prstGeom>
          <a:solidFill>
            <a:srgbClr val="8864FF"/>
          </a:solidFill>
          <a:ln w="12700">
            <a:solidFill>
              <a:srgbClr val="886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74536" y="30632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6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retention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74536" y="34290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-100" kern="0" dirty="0">
                <a:solidFill>
                  <a:srgbClr val="886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XXX% ]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6574536" y="42976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12-month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244584" y="2834640"/>
            <a:ext cx="2788920" cy="1920240"/>
          </a:xfrm>
          <a:prstGeom prst="rect">
            <a:avLst/>
          </a:prstGeom>
          <a:solidFill>
            <a:srgbClr val="0B1124"/>
          </a:solidFill>
          <a:ln w="12700">
            <a:solidFill>
              <a:srgbClr val="1E294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44584" y="2834640"/>
            <a:ext cx="278892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73184" y="30632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6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473184" y="34290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-1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XX% ]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9473184" y="42976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baseline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5029200"/>
            <a:ext cx="11064240" cy="1188720"/>
          </a:xfrm>
          <a:prstGeom prst="rect">
            <a:avLst/>
          </a:prstGeom>
          <a:solidFill>
            <a:srgbClr val="111A33"/>
          </a:solidFill>
          <a:ln w="12700">
            <a:solidFill>
              <a:srgbClr val="1E294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5029200"/>
            <a:ext cx="822960" cy="45720"/>
          </a:xfrm>
          <a:prstGeom prst="rect">
            <a:avLst/>
          </a:prstGeom>
          <a:solidFill>
            <a:srgbClr val="00D4FB"/>
          </a:solidFill>
          <a:ln w="12700">
            <a:solidFill>
              <a:srgbClr val="00D4F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52120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Narrative placeholder ]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77240" y="55321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E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customer logos, renewal rate, expansion motion, pipeline velocity. Fill in before investor conversations.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820095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6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0D4FB"/>
          </a:solidFill>
          <a:ln w="12700">
            <a:solidFill>
              <a:srgbClr val="00D4FB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305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0" y="-4572000"/>
            <a:ext cx="7315200" cy="7315200"/>
          </a:xfrm>
          <a:prstGeom prst="ellipse">
            <a:avLst/>
          </a:prstGeom>
          <a:solidFill>
            <a:srgbClr val="00D4FB">
              <a:alpha val="8000"/>
            </a:srgbClr>
          </a:solidFill>
          <a:ln w="12700">
            <a:solidFill>
              <a:srgbClr val="00D4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34095" y="3200400"/>
            <a:ext cx="7315200" cy="7315200"/>
          </a:xfrm>
          <a:prstGeom prst="ellipse">
            <a:avLst/>
          </a:prstGeom>
          <a:solidFill>
            <a:srgbClr val="8864FF">
              <a:alpha val="7000"/>
            </a:srgbClr>
          </a:solidFill>
          <a:ln w="12700">
            <a:solidFill>
              <a:srgbClr val="886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100" kern="0" dirty="0">
                <a:solidFill>
                  <a:srgbClr val="00D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FormaOS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8046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56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OS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D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100" kern="0" dirty="0">
                <a:solidFill>
                  <a:srgbClr val="E6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tiers. Annual contracts. Clean SaaS economics.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3694176" cy="3657600"/>
          </a:xfrm>
          <a:prstGeom prst="rect">
            <a:avLst/>
          </a:prstGeom>
          <a:solidFill>
            <a:srgbClr val="0B1124"/>
          </a:solidFill>
          <a:ln w="12700">
            <a:solidFill>
              <a:srgbClr val="1E294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743200"/>
            <a:ext cx="3694176" cy="45720"/>
          </a:xfrm>
          <a:prstGeom prst="rect">
            <a:avLst/>
          </a:prstGeom>
          <a:solidFill>
            <a:srgbClr val="00D4FB"/>
          </a:solidFill>
          <a:ln w="12700">
            <a:solidFill>
              <a:srgbClr val="00D4F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926080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22960" y="3383280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site, 2 frameworks, 15 users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840480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spc="-150" kern="0" dirty="0">
                <a:solidFill>
                  <a:srgbClr val="00D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$159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822960" y="4846320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mo AUD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5349240"/>
            <a:ext cx="109728" cy="109728"/>
          </a:xfrm>
          <a:prstGeom prst="ellipse">
            <a:avLst/>
          </a:prstGeom>
          <a:solidFill>
            <a:srgbClr val="00D4FB"/>
          </a:solidFill>
          <a:ln w="12700">
            <a:solidFill>
              <a:srgbClr val="00D4F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5257800"/>
            <a:ext cx="2962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compliance engine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5696712"/>
            <a:ext cx="109728" cy="109728"/>
          </a:xfrm>
          <a:prstGeom prst="ellipse">
            <a:avLst/>
          </a:prstGeom>
          <a:solidFill>
            <a:srgbClr val="00D4FB"/>
          </a:solidFill>
          <a:ln w="12700">
            <a:solidFill>
              <a:srgbClr val="00D4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5605272"/>
            <a:ext cx="2962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vault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" y="6044184"/>
            <a:ext cx="109728" cy="109728"/>
          </a:xfrm>
          <a:prstGeom prst="ellipse">
            <a:avLst/>
          </a:prstGeom>
          <a:solidFill>
            <a:srgbClr val="00D4FB"/>
          </a:solidFill>
          <a:ln w="12700">
            <a:solidFill>
              <a:srgbClr val="00D4F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5952744"/>
            <a:ext cx="2962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reporting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425696" y="2743200"/>
            <a:ext cx="3694176" cy="3657600"/>
          </a:xfrm>
          <a:prstGeom prst="rect">
            <a:avLst/>
          </a:prstGeom>
          <a:solidFill>
            <a:srgbClr val="111A33"/>
          </a:solidFill>
          <a:ln w="25400">
            <a:solidFill>
              <a:srgbClr val="3399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25696" y="2743200"/>
            <a:ext cx="3694176" cy="45720"/>
          </a:xfrm>
          <a:prstGeom prst="rect">
            <a:avLst/>
          </a:prstGeom>
          <a:solidFill>
            <a:srgbClr val="3399FF"/>
          </a:solidFill>
          <a:ln w="12700">
            <a:solidFill>
              <a:srgbClr val="3399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0016" y="2926080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700016" y="3383280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10 sites, 5 frameworks, 75 users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00016" y="3840480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spc="-150" kern="0" dirty="0">
                <a:solidFill>
                  <a:srgbClr val="339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$239</a:t>
            </a:r>
            <a:endParaRPr lang="en-US" sz="4600" dirty="0"/>
          </a:p>
        </p:txBody>
      </p:sp>
      <p:sp>
        <p:nvSpPr>
          <p:cNvPr id="25" name="Text 23"/>
          <p:cNvSpPr/>
          <p:nvPr/>
        </p:nvSpPr>
        <p:spPr>
          <a:xfrm>
            <a:off x="4700016" y="4846320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mo AUD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0016" y="5349240"/>
            <a:ext cx="109728" cy="109728"/>
          </a:xfrm>
          <a:prstGeom prst="ellipse">
            <a:avLst/>
          </a:prstGeom>
          <a:solidFill>
            <a:srgbClr val="3399FF"/>
          </a:solidFill>
          <a:ln w="12700">
            <a:solidFill>
              <a:srgbClr val="3399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82896" y="5257800"/>
            <a:ext cx="2962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controls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00016" y="5696712"/>
            <a:ext cx="109728" cy="109728"/>
          </a:xfrm>
          <a:prstGeom prst="ellipse">
            <a:avLst/>
          </a:prstGeom>
          <a:solidFill>
            <a:srgbClr val="3399FF"/>
          </a:solidFill>
          <a:ln w="12700">
            <a:solidFill>
              <a:srgbClr val="3399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82896" y="5605272"/>
            <a:ext cx="2962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automation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00016" y="6044184"/>
            <a:ext cx="109728" cy="109728"/>
          </a:xfrm>
          <a:prstGeom prst="ellipse">
            <a:avLst/>
          </a:prstGeom>
          <a:solidFill>
            <a:srgbClr val="3399FF"/>
          </a:solidFill>
          <a:ln w="12700">
            <a:solidFill>
              <a:srgbClr val="3399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82896" y="5952744"/>
            <a:ext cx="2962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reporting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302752" y="2743200"/>
            <a:ext cx="3694176" cy="3657600"/>
          </a:xfrm>
          <a:prstGeom prst="rect">
            <a:avLst/>
          </a:prstGeom>
          <a:solidFill>
            <a:srgbClr val="0B1124"/>
          </a:solidFill>
          <a:ln w="12700">
            <a:solidFill>
              <a:srgbClr val="1E294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302752" y="2743200"/>
            <a:ext cx="3694176" cy="45720"/>
          </a:xfrm>
          <a:prstGeom prst="rect">
            <a:avLst/>
          </a:prstGeom>
          <a:solidFill>
            <a:srgbClr val="8864FF"/>
          </a:solidFill>
          <a:ln w="12700">
            <a:solidFill>
              <a:srgbClr val="8864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77072" y="2926080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8577072" y="3383280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sites, custom frameworks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577072" y="3840480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spc="-150" kern="0" dirty="0">
                <a:solidFill>
                  <a:srgbClr val="886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$399+</a:t>
            </a:r>
            <a:endParaRPr lang="en-US" sz="4600" dirty="0"/>
          </a:p>
        </p:txBody>
      </p:sp>
      <p:sp>
        <p:nvSpPr>
          <p:cNvPr id="37" name="Text 35"/>
          <p:cNvSpPr/>
          <p:nvPr/>
        </p:nvSpPr>
        <p:spPr>
          <a:xfrm>
            <a:off x="8577072" y="4846320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mo AUD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577072" y="5349240"/>
            <a:ext cx="109728" cy="109728"/>
          </a:xfrm>
          <a:prstGeom prst="ellipse">
            <a:avLst/>
          </a:prstGeom>
          <a:solidFill>
            <a:srgbClr val="8864FF"/>
          </a:solidFill>
          <a:ln w="12700">
            <a:solidFill>
              <a:srgbClr val="8864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759952" y="5257800"/>
            <a:ext cx="2962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/ SAML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577072" y="5696712"/>
            <a:ext cx="109728" cy="109728"/>
          </a:xfrm>
          <a:prstGeom prst="ellipse">
            <a:avLst/>
          </a:prstGeom>
          <a:solidFill>
            <a:srgbClr val="8864FF"/>
          </a:solidFill>
          <a:ln w="12700">
            <a:solidFill>
              <a:srgbClr val="8864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759952" y="5605272"/>
            <a:ext cx="2962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Webhooks &amp; SLAs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577072" y="6044184"/>
            <a:ext cx="109728" cy="109728"/>
          </a:xfrm>
          <a:prstGeom prst="ellipse">
            <a:avLst/>
          </a:prstGeom>
          <a:solidFill>
            <a:srgbClr val="8864FF"/>
          </a:solidFill>
          <a:ln w="12700">
            <a:solidFill>
              <a:srgbClr val="8864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759952" y="5952744"/>
            <a:ext cx="2962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White-glove onboarding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0820095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6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0D4FB"/>
          </a:solidFill>
          <a:ln w="12700">
            <a:solidFill>
              <a:srgbClr val="00D4FB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305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0" y="-4572000"/>
            <a:ext cx="7315200" cy="7315200"/>
          </a:xfrm>
          <a:prstGeom prst="ellipse">
            <a:avLst/>
          </a:prstGeom>
          <a:solidFill>
            <a:srgbClr val="00D4FB">
              <a:alpha val="8000"/>
            </a:srgbClr>
          </a:solidFill>
          <a:ln w="12700">
            <a:solidFill>
              <a:srgbClr val="00D4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34095" y="3200400"/>
            <a:ext cx="7315200" cy="7315200"/>
          </a:xfrm>
          <a:prstGeom prst="ellipse">
            <a:avLst/>
          </a:prstGeom>
          <a:solidFill>
            <a:srgbClr val="8864FF">
              <a:alpha val="7000"/>
            </a:srgbClr>
          </a:solidFill>
          <a:ln w="12700">
            <a:solidFill>
              <a:srgbClr val="886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100" kern="0" dirty="0">
                <a:solidFill>
                  <a:srgbClr val="00D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FormaOS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8046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56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OS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D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POSITIONING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100" kern="0" dirty="0">
                <a:solidFill>
                  <a:srgbClr val="E6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own the top-right: ops depth × regulated-industry fit.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731520" y="6400800"/>
            <a:ext cx="6858000" cy="0"/>
          </a:xfrm>
          <a:prstGeom prst="line">
            <a:avLst/>
          </a:prstGeom>
          <a:noFill/>
          <a:ln w="25400">
            <a:solidFill>
              <a:srgbClr val="1E294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743200"/>
            <a:ext cx="0" cy="3657600"/>
          </a:xfrm>
          <a:prstGeom prst="line">
            <a:avLst/>
          </a:prstGeom>
          <a:noFill/>
          <a:ln w="25400">
            <a:solidFill>
              <a:srgbClr val="1E294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4572000"/>
            <a:ext cx="6858000" cy="0"/>
          </a:xfrm>
          <a:prstGeom prst="line">
            <a:avLst/>
          </a:prstGeom>
          <a:noFill/>
          <a:ln w="9525">
            <a:solidFill>
              <a:srgbClr val="1E2947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4160520" y="2743200"/>
            <a:ext cx="0" cy="3657600"/>
          </a:xfrm>
          <a:prstGeom prst="line">
            <a:avLst/>
          </a:prstGeom>
          <a:noFill/>
          <a:ln w="9525">
            <a:solidFill>
              <a:srgbClr val="1E2947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73152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56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depth →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 rot="-5400000">
            <a:off x="-502920" y="2743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6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Regulated-industry fit ↑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897880" y="2834640"/>
            <a:ext cx="914400" cy="914400"/>
          </a:xfrm>
          <a:prstGeom prst="ellipse">
            <a:avLst/>
          </a:prstGeom>
          <a:solidFill>
            <a:srgbClr val="00D4FB">
              <a:alpha val="30000"/>
            </a:srgbClr>
          </a:solidFill>
          <a:ln w="12700">
            <a:solidFill>
              <a:srgbClr val="00D4F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3063240"/>
            <a:ext cx="457200" cy="457200"/>
          </a:xfrm>
          <a:prstGeom prst="ellipse">
            <a:avLst/>
          </a:prstGeom>
          <a:solidFill>
            <a:srgbClr val="00D4FB"/>
          </a:solidFill>
          <a:ln w="12700">
            <a:solidFill>
              <a:srgbClr val="00D4F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3017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FormaOS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343400" y="4960620"/>
            <a:ext cx="320040" cy="320040"/>
          </a:xfrm>
          <a:prstGeom prst="ellipse">
            <a:avLst/>
          </a:prstGeom>
          <a:solidFill>
            <a:srgbClr val="566488"/>
          </a:solidFill>
          <a:ln w="12700">
            <a:solidFill>
              <a:srgbClr val="566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49149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Drata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000500" y="5143500"/>
            <a:ext cx="320040" cy="320040"/>
          </a:xfrm>
          <a:prstGeom prst="ellipse">
            <a:avLst/>
          </a:prstGeom>
          <a:solidFill>
            <a:srgbClr val="566488"/>
          </a:solidFill>
          <a:ln w="12700">
            <a:solidFill>
              <a:srgbClr val="566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11980" y="50977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14700" y="5509260"/>
            <a:ext cx="320040" cy="320040"/>
          </a:xfrm>
          <a:prstGeom prst="ellipse">
            <a:avLst/>
          </a:prstGeom>
          <a:solidFill>
            <a:srgbClr val="566488"/>
          </a:solidFill>
          <a:ln w="12700">
            <a:solidFill>
              <a:srgbClr val="566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26180" y="54635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Secureframe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600200" y="3680460"/>
            <a:ext cx="320040" cy="320040"/>
          </a:xfrm>
          <a:prstGeom prst="ellipse">
            <a:avLst/>
          </a:prstGeom>
          <a:solidFill>
            <a:srgbClr val="566488"/>
          </a:solidFill>
          <a:ln w="12700">
            <a:solidFill>
              <a:srgbClr val="566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11680" y="36347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Complispace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943100" y="4046220"/>
            <a:ext cx="320040" cy="320040"/>
          </a:xfrm>
          <a:prstGeom prst="ellipse">
            <a:avLst/>
          </a:prstGeom>
          <a:solidFill>
            <a:srgbClr val="566488"/>
          </a:solidFill>
          <a:ln w="12700">
            <a:solidFill>
              <a:srgbClr val="566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54580" y="40005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6clicks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68680" y="2880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6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GRC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68680" y="4709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6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compliance binders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297680" y="2880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6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tools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297680" y="4709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229600" y="2743200"/>
            <a:ext cx="3383280" cy="3657600"/>
          </a:xfrm>
          <a:prstGeom prst="rect">
            <a:avLst/>
          </a:prstGeom>
          <a:solidFill>
            <a:srgbClr val="0B1124"/>
          </a:solidFill>
          <a:ln w="12700">
            <a:solidFill>
              <a:srgbClr val="1E294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29600" y="2743200"/>
            <a:ext cx="3383280" cy="45720"/>
          </a:xfrm>
          <a:prstGeom prst="rect">
            <a:avLst/>
          </a:prstGeom>
          <a:solidFill>
            <a:srgbClr val="00D4FB"/>
          </a:solidFill>
          <a:ln w="12700">
            <a:solidFill>
              <a:srgbClr val="00D4F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03920" y="29260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win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8503920" y="3538728"/>
            <a:ext cx="128016" cy="128016"/>
          </a:xfrm>
          <a:prstGeom prst="ellipse">
            <a:avLst/>
          </a:prstGeom>
          <a:solidFill>
            <a:srgbClr val="00D4FB"/>
          </a:solidFill>
          <a:ln w="12700">
            <a:solidFill>
              <a:srgbClr val="00D4F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732520" y="3429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6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operations depth no generic GRC has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503920" y="4178808"/>
            <a:ext cx="128016" cy="128016"/>
          </a:xfrm>
          <a:prstGeom prst="ellipse">
            <a:avLst/>
          </a:prstGeom>
          <a:solidFill>
            <a:srgbClr val="00D4FB"/>
          </a:solidFill>
          <a:ln w="12700">
            <a:solidFill>
              <a:srgbClr val="00D4F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732520" y="4069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6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AU-first residency &amp; framework packs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503920" y="4818888"/>
            <a:ext cx="128016" cy="128016"/>
          </a:xfrm>
          <a:prstGeom prst="ellipse">
            <a:avLst/>
          </a:prstGeom>
          <a:solidFill>
            <a:srgbClr val="00D4FB"/>
          </a:solidFill>
          <a:ln w="12700">
            <a:solidFill>
              <a:srgbClr val="00D4F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732520" y="4709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6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workflow, not documentation-only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503920" y="5458968"/>
            <a:ext cx="128016" cy="128016"/>
          </a:xfrm>
          <a:prstGeom prst="ellipse">
            <a:avLst/>
          </a:prstGeom>
          <a:solidFill>
            <a:srgbClr val="00D4FB"/>
          </a:solidFill>
          <a:ln w="12700">
            <a:solidFill>
              <a:srgbClr val="00D4F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732520" y="53492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6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surface for procurement wins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0820095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6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10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0D4FB"/>
          </a:solidFill>
          <a:ln w="12700">
            <a:solidFill>
              <a:srgbClr val="00D4FB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305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9144000" cy="9144000"/>
          </a:xfrm>
          <a:prstGeom prst="ellipse">
            <a:avLst/>
          </a:prstGeom>
          <a:solidFill>
            <a:srgbClr val="00D4FB">
              <a:alpha val="12000"/>
            </a:srgbClr>
          </a:solidFill>
          <a:ln w="12700">
            <a:solidFill>
              <a:srgbClr val="00D4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05295" y="457200"/>
            <a:ext cx="10972800" cy="10972800"/>
          </a:xfrm>
          <a:prstGeom prst="ellipse">
            <a:avLst/>
          </a:prstGeom>
          <a:solidFill>
            <a:srgbClr val="8864FF">
              <a:alpha val="12000"/>
            </a:srgbClr>
          </a:solidFill>
          <a:ln w="12700">
            <a:solidFill>
              <a:srgbClr val="886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100" kern="0" dirty="0">
                <a:solidFill>
                  <a:srgbClr val="00D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FormaOS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8046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56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OS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D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ASK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100" kern="0" dirty="0">
                <a:solidFill>
                  <a:srgbClr val="E6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operators. Ready to scale.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3694176" cy="1463040"/>
          </a:xfrm>
          <a:prstGeom prst="rect">
            <a:avLst/>
          </a:prstGeom>
          <a:solidFill>
            <a:srgbClr val="0B1124"/>
          </a:solidFill>
          <a:ln w="12700">
            <a:solidFill>
              <a:srgbClr val="1E294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926080"/>
            <a:ext cx="457200" cy="45720"/>
          </a:xfrm>
          <a:prstGeom prst="rect">
            <a:avLst/>
          </a:prstGeom>
          <a:solidFill>
            <a:srgbClr val="00D4FB"/>
          </a:solidFill>
          <a:ln w="12700">
            <a:solidFill>
              <a:srgbClr val="00D4F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200400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Founder name ]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36576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E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· Product &amp; vision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79976" y="2926080"/>
            <a:ext cx="3694176" cy="1463040"/>
          </a:xfrm>
          <a:prstGeom prst="rect">
            <a:avLst/>
          </a:prstGeom>
          <a:solidFill>
            <a:srgbClr val="0B1124"/>
          </a:solidFill>
          <a:ln w="12700">
            <a:solidFill>
              <a:srgbClr val="1E294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79976" y="2926080"/>
            <a:ext cx="457200" cy="45720"/>
          </a:xfrm>
          <a:prstGeom prst="rect">
            <a:avLst/>
          </a:prstGeom>
          <a:solidFill>
            <a:srgbClr val="00D4FB"/>
          </a:solidFill>
          <a:ln w="12700">
            <a:solidFill>
              <a:srgbClr val="00D4F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54296" y="3200400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Co-founder ]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54296" y="36576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E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· Platform &amp; compliance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11312" y="2926080"/>
            <a:ext cx="3694176" cy="1463040"/>
          </a:xfrm>
          <a:prstGeom prst="rect">
            <a:avLst/>
          </a:prstGeom>
          <a:solidFill>
            <a:srgbClr val="0B1124"/>
          </a:solidFill>
          <a:ln w="12700">
            <a:solidFill>
              <a:srgbClr val="1E294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11312" y="2926080"/>
            <a:ext cx="457200" cy="45720"/>
          </a:xfrm>
          <a:prstGeom prst="rect">
            <a:avLst/>
          </a:prstGeom>
          <a:solidFill>
            <a:srgbClr val="00D4FB"/>
          </a:solidFill>
          <a:ln w="12700">
            <a:solidFill>
              <a:srgbClr val="00D4F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85632" y="3200400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Head of GTM ]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485632" y="36576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E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partnerships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663440"/>
            <a:ext cx="11064240" cy="1737360"/>
          </a:xfrm>
          <a:prstGeom prst="rect">
            <a:avLst/>
          </a:prstGeom>
          <a:solidFill>
            <a:srgbClr val="111A33"/>
          </a:solidFill>
          <a:ln w="25400">
            <a:solidFill>
              <a:srgbClr val="00D4F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663440"/>
            <a:ext cx="11064240" cy="45720"/>
          </a:xfrm>
          <a:prstGeom prst="rect">
            <a:avLst/>
          </a:prstGeom>
          <a:solidFill>
            <a:srgbClr val="00D4FB"/>
          </a:solidFill>
          <a:ln w="12700">
            <a:solidFill>
              <a:srgbClr val="00D4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846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" y="52120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6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Round size ] to reach [ milestone ] — expand Care Operations suite, unlock enterprise motion, ship AU data residency in every region.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77240" y="598932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E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hello@formaos.com.au   ·   formaos.com.au   ·   Sydney, Australia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820095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6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0D4FB"/>
          </a:solidFill>
          <a:ln w="12700">
            <a:solidFill>
              <a:srgbClr val="00D4FB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FormaOS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FormaOS — Investor Deck</dc:title>
  <dc:subject>PptxGenJS Presentation</dc:subject>
  <dc:creator>FormaOS</dc:creator>
  <cp:lastModifiedBy>FormaOS</cp:lastModifiedBy>
  <cp:revision>1</cp:revision>
  <dcterms:created xsi:type="dcterms:W3CDTF">2026-04-18T11:14:23Z</dcterms:created>
  <dcterms:modified xsi:type="dcterms:W3CDTF">2026-04-18T11:14:23Z</dcterms:modified>
</cp:coreProperties>
</file>